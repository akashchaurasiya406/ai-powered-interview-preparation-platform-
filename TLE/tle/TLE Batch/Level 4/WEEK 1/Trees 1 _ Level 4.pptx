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6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da1b7951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da1b7951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635d1873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4635d1873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635d1873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4635d1873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dda1b7951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dda1b7951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635d1873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4635d1873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4635d1873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4635d1873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4635d1873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4635d1873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d1873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4635d187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d1873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4635d1873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35d1873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4635d1873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635d1873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4635d1873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d1873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4635d1873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da1b7951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da1b7951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4635d1873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4635d1873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d1873e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4635d1873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4635d1873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4635d1873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dda1b7951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dda1b7951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635d1873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4635d187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480ebb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46480ebb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4635d1873e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4635d1873e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635d1873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4635d1873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4635d1873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4635d1873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da1b7951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da1b7951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deforces.com/problemset/problem/913/B" TargetMode="External"/><Relationship Id="rId4" Type="http://schemas.openxmlformats.org/officeDocument/2006/relationships/hyperlink" Target="https://codeforces.com/problemset/problem/981/C" TargetMode="External"/><Relationship Id="rId5" Type="http://schemas.openxmlformats.org/officeDocument/2006/relationships/hyperlink" Target="https://codeforces.com/problemset/problem/580/C" TargetMode="External"/><Relationship Id="rId6" Type="http://schemas.openxmlformats.org/officeDocument/2006/relationships/hyperlink" Target="https://codeforces.com/problemset/problem/763/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94575" y="1981725"/>
            <a:ext cx="8520600" cy="19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Trees 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9" name="Google Shape;129;p13"/>
          <p:cNvSpPr txBox="1"/>
          <p:nvPr/>
        </p:nvSpPr>
        <p:spPr>
          <a:xfrm>
            <a:off x="6119575" y="3797050"/>
            <a:ext cx="27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-Priyansh Agarwal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546025" y="462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What is a Tree</a:t>
            </a:r>
            <a:endParaRPr sz="4500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234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connected graph of N nodes without any cycles.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What is a graph?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	</a:t>
            </a:r>
            <a:r>
              <a:rPr lang="en" sz="1800"/>
              <a:t>Imagine it like the Earth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Contains a bunch of countries connected via roads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A continent is a group of countries directly or indirectly connected to each other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Some countries might be in different continents -&gt; disconnected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A tree is one such continent with a unique path b/w any 2 countries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546025" y="462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What is a Tree</a:t>
            </a:r>
            <a:endParaRPr sz="4500"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234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Differentiate b/w a Tree and a Graph from examples</a:t>
            </a:r>
            <a:endParaRPr sz="1800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Note Illustrations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Some Common Terms</a:t>
            </a:r>
            <a:endParaRPr sz="1800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Neighbour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Degree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Leaf and non-leaf Nodes (aka Internal Nodes)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Diameter  (can be non-unique)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546025" y="462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Properties 1</a:t>
            </a:r>
            <a:endParaRPr sz="4500"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623400" y="1340550"/>
            <a:ext cx="8520600" cy="3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Number of Edges in a Tree for N nodes 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N - 1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Number of paths between 2 nodes 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1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Sum of Degree of all nodes 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 2 * (N - 1)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Can there be less than 2 leaf nodes in a Tree with &gt;= 2 nodes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No, except for the case when there is just one node in the entire tree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R</a:t>
            </a:r>
            <a:r>
              <a:rPr lang="en" sz="4500"/>
              <a:t>ooted and Unrooted Trees</a:t>
            </a:r>
            <a:endParaRPr sz="4500"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6234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Unrooted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425" y="1224013"/>
            <a:ext cx="5223150" cy="364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Rooted and Unrooted Trees</a:t>
            </a:r>
            <a:endParaRPr sz="4500"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6234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Rooted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563" y="1428600"/>
            <a:ext cx="5526875" cy="30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546025" y="462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Some more terms</a:t>
            </a:r>
            <a:endParaRPr sz="4500"/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964800" y="1340550"/>
            <a:ext cx="653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Root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Parent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Child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Ancestor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Descendant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Level of Node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Subtree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Subtree Size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Height of Tree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Lowest Common Ancestor</a:t>
            </a:r>
            <a:endParaRPr sz="1800"/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4997575" y="1340550"/>
            <a:ext cx="35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- 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546025" y="462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Properties 2</a:t>
            </a:r>
            <a:endParaRPr sz="4500"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546025" y="1329175"/>
            <a:ext cx="8520600" cy="3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Can there be more than 2 parents of a single node in a rooted tree</a:t>
            </a:r>
            <a:endParaRPr sz="1800"/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No</a:t>
            </a:r>
            <a:endParaRPr sz="1800"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Path property. What are the only 3 types of paths possible?</a:t>
            </a:r>
            <a:endParaRPr sz="1800"/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1. </a:t>
            </a:r>
            <a:r>
              <a:rPr b="1" lang="en" sz="1800"/>
              <a:t>Go Up, Come Down</a:t>
            </a:r>
            <a:r>
              <a:rPr lang="en" sz="1800"/>
              <a:t> 2. </a:t>
            </a:r>
            <a:r>
              <a:rPr b="1" lang="en" sz="1800"/>
              <a:t>Go Up</a:t>
            </a:r>
            <a:r>
              <a:rPr lang="en" sz="1800"/>
              <a:t> 3. </a:t>
            </a:r>
            <a:r>
              <a:rPr b="1" lang="en" sz="1800"/>
              <a:t>Come Down</a:t>
            </a:r>
            <a:endParaRPr b="1" sz="1800"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How to color a  Tree with just 2 colors such that no two neighbours have the same color</a:t>
            </a:r>
            <a:endParaRPr sz="1800"/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 Just root the tree and color level wise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  Bonus Tip: 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Most Codeforces problems less than 1800 rated on Codeforces can be easily solved if you just remember the basic properties and learn to apply them.	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Traversals in a Tree </a:t>
            </a:r>
            <a:endParaRPr sz="4500"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138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21"/>
          <p:cNvSpPr txBox="1"/>
          <p:nvPr/>
        </p:nvSpPr>
        <p:spPr>
          <a:xfrm>
            <a:off x="785175" y="4085225"/>
            <a:ext cx="69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How to traverse the tree in a way such that we visit all nodes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pth-First Search (DFS) | Brilliant Math &amp; Science Wiki"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337" y="1340550"/>
            <a:ext cx="4695324" cy="25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DFS Traversal in a Tree </a:t>
            </a:r>
            <a:endParaRPr sz="4500"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38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3000" y="1171125"/>
            <a:ext cx="4174425" cy="267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785175" y="4085225"/>
            <a:ext cx="69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Nodes are numbered in the order in which they are visited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DFS Traversal in a Tree </a:t>
            </a:r>
            <a:endParaRPr sz="4500"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138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23"/>
          <p:cNvSpPr txBox="1"/>
          <p:nvPr/>
        </p:nvSpPr>
        <p:spPr>
          <a:xfrm>
            <a:off x="785175" y="4262000"/>
            <a:ext cx="69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Time Complexity: O(N)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785175" y="1513475"/>
            <a:ext cx="41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Implementation: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722" y="1438725"/>
            <a:ext cx="5179996" cy="282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B</a:t>
            </a:r>
            <a:r>
              <a:rPr lang="en" sz="4500"/>
              <a:t>FS Traversal in a Tree </a:t>
            </a:r>
            <a:endParaRPr sz="4500"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38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6" name="Google Shape;2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675" y="1278149"/>
            <a:ext cx="3788967" cy="25101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785175" y="4085225"/>
            <a:ext cx="69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Nodes are numbered in the order in which they are visited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471025" y="44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B</a:t>
            </a:r>
            <a:r>
              <a:rPr lang="en" sz="4500"/>
              <a:t>FS Traversal in a Tree </a:t>
            </a:r>
            <a:endParaRPr sz="4500"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13800" y="1340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25"/>
          <p:cNvSpPr txBox="1"/>
          <p:nvPr/>
        </p:nvSpPr>
        <p:spPr>
          <a:xfrm>
            <a:off x="785888" y="4356750"/>
            <a:ext cx="69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Time Complexity: O(N)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785175" y="1513475"/>
            <a:ext cx="41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Implementation: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975" y="1340550"/>
            <a:ext cx="3711108" cy="301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705500" y="485575"/>
            <a:ext cx="68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Problems on Traversals</a:t>
            </a:r>
            <a:endParaRPr sz="4500"/>
          </a:p>
        </p:txBody>
      </p:sp>
      <p:sp>
        <p:nvSpPr>
          <p:cNvPr id="222" name="Google Shape;222;p26"/>
          <p:cNvSpPr txBox="1"/>
          <p:nvPr/>
        </p:nvSpPr>
        <p:spPr>
          <a:xfrm>
            <a:off x="785175" y="1604500"/>
            <a:ext cx="688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Level of each node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705500" y="485575"/>
            <a:ext cx="68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Problems on Traversals</a:t>
            </a:r>
            <a:endParaRPr sz="4500"/>
          </a:p>
        </p:txBody>
      </p:sp>
      <p:sp>
        <p:nvSpPr>
          <p:cNvPr id="228" name="Google Shape;228;p27"/>
          <p:cNvSpPr txBox="1"/>
          <p:nvPr/>
        </p:nvSpPr>
        <p:spPr>
          <a:xfrm>
            <a:off x="785175" y="1604500"/>
            <a:ext cx="688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Storing the parent of each node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705500" y="485575"/>
            <a:ext cx="68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Problems on Traversals</a:t>
            </a:r>
            <a:endParaRPr sz="4500"/>
          </a:p>
        </p:txBody>
      </p:sp>
      <p:sp>
        <p:nvSpPr>
          <p:cNvPr id="234" name="Google Shape;234;p28"/>
          <p:cNvSpPr txBox="1"/>
          <p:nvPr/>
        </p:nvSpPr>
        <p:spPr>
          <a:xfrm>
            <a:off x="785175" y="1604500"/>
            <a:ext cx="688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Finding the number of children of each node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705500" y="485575"/>
            <a:ext cx="68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Problems on Traversals</a:t>
            </a:r>
            <a:endParaRPr sz="4500"/>
          </a:p>
        </p:txBody>
      </p:sp>
      <p:sp>
        <p:nvSpPr>
          <p:cNvPr id="240" name="Google Shape;240;p29"/>
          <p:cNvSpPr txBox="1"/>
          <p:nvPr/>
        </p:nvSpPr>
        <p:spPr>
          <a:xfrm>
            <a:off x="793600" y="1351950"/>
            <a:ext cx="688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Finding subtree size of each node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525" y="1852000"/>
            <a:ext cx="5669976" cy="287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0" y="42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Ancestor - Descendant Problem</a:t>
            </a:r>
            <a:endParaRPr sz="4000"/>
          </a:p>
        </p:txBody>
      </p:sp>
      <p:sp>
        <p:nvSpPr>
          <p:cNvPr id="247" name="Google Shape;247;p30"/>
          <p:cNvSpPr txBox="1"/>
          <p:nvPr/>
        </p:nvSpPr>
        <p:spPr>
          <a:xfrm>
            <a:off x="660000" y="1513475"/>
            <a:ext cx="7704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Given a rooted tree with N nodes and Q queries.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For each query of the form X, Y check whether X is an ancestor of Y or not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 &lt;= 1e5, Q &lt;= 1e5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-739675" y="446050"/>
            <a:ext cx="71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 - Out Time trick</a:t>
            </a:r>
            <a:endParaRPr sz="4000"/>
          </a:p>
        </p:txBody>
      </p:sp>
      <p:sp>
        <p:nvSpPr>
          <p:cNvPr id="253" name="Google Shape;253;p31"/>
          <p:cNvSpPr txBox="1"/>
          <p:nvPr/>
        </p:nvSpPr>
        <p:spPr>
          <a:xfrm>
            <a:off x="543600" y="1445075"/>
            <a:ext cx="8056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 a DFS traversal.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Store the following information for each node: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First visited time = In time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Last visited time = out time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682750" y="3903150"/>
            <a:ext cx="805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Can you solve the ancestor descendant problem now?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1"/>
          <p:cNvPicPr preferRelativeResize="0"/>
          <p:nvPr/>
        </p:nvPicPr>
        <p:blipFill rotWithShape="1">
          <a:blip r:embed="rId3">
            <a:alphaModFix/>
          </a:blip>
          <a:srcRect b="2835" l="0" r="4707" t="1360"/>
          <a:stretch/>
        </p:blipFill>
        <p:spPr>
          <a:xfrm>
            <a:off x="4994725" y="1181400"/>
            <a:ext cx="3953775" cy="23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type="title"/>
          </p:nvPr>
        </p:nvSpPr>
        <p:spPr>
          <a:xfrm>
            <a:off x="-739675" y="446050"/>
            <a:ext cx="71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 - Out Time trick</a:t>
            </a:r>
            <a:endParaRPr sz="4000"/>
          </a:p>
        </p:txBody>
      </p:sp>
      <p:pic>
        <p:nvPicPr>
          <p:cNvPr id="261" name="Google Shape;2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549" y="1257275"/>
            <a:ext cx="6627376" cy="34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-739675" y="446050"/>
            <a:ext cx="71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 - Out Time trick</a:t>
            </a:r>
            <a:endParaRPr sz="4000"/>
          </a:p>
        </p:txBody>
      </p:sp>
      <p:sp>
        <p:nvSpPr>
          <p:cNvPr id="267" name="Google Shape;267;p33"/>
          <p:cNvSpPr txBox="1"/>
          <p:nvPr/>
        </p:nvSpPr>
        <p:spPr>
          <a:xfrm>
            <a:off x="682750" y="1376925"/>
            <a:ext cx="80568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Solving the ancestor - descendant problem: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If X is an ancestor of Y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in time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  &lt; 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 Y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in time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  &lt;   Y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out time  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&lt;   X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out time</a:t>
            </a:r>
            <a:endParaRPr baseline="-25000"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0" y="42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Distance b/w 2 nodes Problem</a:t>
            </a:r>
            <a:endParaRPr sz="4000"/>
          </a:p>
        </p:txBody>
      </p:sp>
      <p:sp>
        <p:nvSpPr>
          <p:cNvPr id="273" name="Google Shape;273;p34"/>
          <p:cNvSpPr txBox="1"/>
          <p:nvPr/>
        </p:nvSpPr>
        <p:spPr>
          <a:xfrm>
            <a:off x="660000" y="1513475"/>
            <a:ext cx="7704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Given a rooted tree with N nodes and Q queries.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For each query of the form X, Y find distance from X to 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 &lt;= 1e5, Q &lt;= 1e5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-989975" y="434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LCA Property in Paths</a:t>
            </a:r>
            <a:endParaRPr sz="4000"/>
          </a:p>
        </p:txBody>
      </p:sp>
      <p:sp>
        <p:nvSpPr>
          <p:cNvPr id="279" name="Google Shape;279;p35"/>
          <p:cNvSpPr txBox="1"/>
          <p:nvPr/>
        </p:nvSpPr>
        <p:spPr>
          <a:xfrm>
            <a:off x="1206225" y="1297275"/>
            <a:ext cx="703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dist(A, B) = level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 + Level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 - 2 * Level</a:t>
            </a:r>
            <a:r>
              <a:rPr baseline="-25000" lang="en" sz="3000">
                <a:latin typeface="Calibri"/>
                <a:ea typeface="Calibri"/>
                <a:cs typeface="Calibri"/>
                <a:sym typeface="Calibri"/>
              </a:rPr>
              <a:t>LCA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400" y="1943775"/>
            <a:ext cx="4804093" cy="30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572275" y="229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Practice Problems</a:t>
            </a:r>
            <a:endParaRPr sz="4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Spruce</a:t>
            </a:r>
            <a:r>
              <a:rPr lang="en" sz="3000"/>
              <a:t> (Easy)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Useful Decomposition</a:t>
            </a:r>
            <a:r>
              <a:rPr lang="en" sz="3000"/>
              <a:t> (Easy)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 u="sng">
                <a:solidFill>
                  <a:schemeClr val="hlink"/>
                </a:solidFill>
                <a:hlinkClick r:id="rId5"/>
              </a:rPr>
              <a:t>Kefa and Park</a:t>
            </a:r>
            <a:r>
              <a:rPr lang="en" sz="3000"/>
              <a:t> (Medium)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 u="sng">
                <a:solidFill>
                  <a:schemeClr val="hlink"/>
                </a:solidFill>
                <a:hlinkClick r:id="rId6"/>
              </a:rPr>
              <a:t>Tree Coloring</a:t>
            </a:r>
            <a:r>
              <a:rPr lang="en" sz="3000"/>
              <a:t>  (Medium)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